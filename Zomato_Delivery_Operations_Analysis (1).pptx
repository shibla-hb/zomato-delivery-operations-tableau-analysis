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Delivery Time by Weather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Time (min)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9A9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A9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9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71C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Sunny</c:v>
                </c:pt>
                <c:pt idx="1">
                  <c:v>Windy</c:v>
                </c:pt>
                <c:pt idx="2">
                  <c:v>Sandstorms</c:v>
                </c:pt>
                <c:pt idx="3">
                  <c:v>Stormy</c:v>
                </c:pt>
                <c:pt idx="4">
                  <c:v>Fog</c:v>
                </c:pt>
                <c:pt idx="5">
                  <c:v>Cloudy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21.86</c:v>
                </c:pt>
                <c:pt idx="1">
                  <c:v>26.12</c:v>
                </c:pt>
                <c:pt idx="2">
                  <c:v>25.88</c:v>
                </c:pt>
                <c:pt idx="3">
                  <c:v>25.87</c:v>
                </c:pt>
                <c:pt idx="4">
                  <c:v>28.92</c:v>
                </c:pt>
                <c:pt idx="5">
                  <c:v>28.92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30744904"/>
        <c:axId val="370778808"/>
      </c:barChart>
      <c:catAx>
        <c:axId val="230744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78808"/>
        <c:crosses val="autoZero"/>
        <c:auto val="1"/>
        <c:lblAlgn val="ctr"/>
        <c:lblOffset val="100"/>
        <c:noMultiLvlLbl val="1"/>
      </c:catAx>
      <c:valAx>
        <c:axId val="37077880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30744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Delivery Time by Traffic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Time (min)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9A9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A9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Jam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21.27</c:v>
                </c:pt>
                <c:pt idx="1">
                  <c:v>26.7</c:v>
                </c:pt>
                <c:pt idx="2">
                  <c:v>27.24</c:v>
                </c:pt>
                <c:pt idx="3">
                  <c:v>31.18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70778416"/>
        <c:axId val="370781552"/>
      </c:barChart>
      <c:catAx>
        <c:axId val="370778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81552"/>
        <c:crosses val="autoZero"/>
        <c:auto val="1"/>
        <c:lblAlgn val="ctr"/>
        <c:lblOffset val="100"/>
        <c:noMultiLvlLbl val="1"/>
      </c:catAx>
      <c:valAx>
        <c:axId val="370781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78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Delivery Time by Vehicle Type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Time (min)</c:v>
                </c:pt>
              </c:strCache>
            </c:strRef>
          </c:tx>
          <c:spPr>
            <a:solidFill>
              <a:srgbClr val="1E8E5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E9A9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37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Scooter</c:v>
                </c:pt>
                <c:pt idx="1">
                  <c:v>E-Scooter</c:v>
                </c:pt>
                <c:pt idx="2">
                  <c:v>Bicycle</c:v>
                </c:pt>
                <c:pt idx="3">
                  <c:v>Motorcycle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24.48</c:v>
                </c:pt>
                <c:pt idx="1">
                  <c:v>24.47</c:v>
                </c:pt>
                <c:pt idx="2">
                  <c:v>26.42</c:v>
                </c:pt>
                <c:pt idx="3">
                  <c:v>27.61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70776064"/>
        <c:axId val="370780376"/>
      </c:barChart>
      <c:catAx>
        <c:axId val="370776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80376"/>
        <c:crosses val="autoZero"/>
        <c:auto val="1"/>
        <c:lblAlgn val="ctr"/>
        <c:lblOffset val="100"/>
        <c:noMultiLvlLbl val="1"/>
      </c:catAx>
      <c:valAx>
        <c:axId val="37078037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76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Delivery Time by Vehicle Condition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Time (min)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E8E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E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93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Poor</c:v>
                </c:pt>
                <c:pt idx="1">
                  <c:v>Average</c:v>
                </c:pt>
                <c:pt idx="2">
                  <c:v>Good</c:v>
                </c:pt>
                <c:pt idx="3">
                  <c:v>Excellent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30.07</c:v>
                </c:pt>
                <c:pt idx="1">
                  <c:v>24.35</c:v>
                </c:pt>
                <c:pt idx="2">
                  <c:v>24.45</c:v>
                </c:pt>
                <c:pt idx="3">
                  <c:v>26.49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70776456"/>
        <c:axId val="370782336"/>
      </c:barChart>
      <c:catAx>
        <c:axId val="370776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82336"/>
        <c:crosses val="autoZero"/>
        <c:auto val="1"/>
        <c:lblAlgn val="ctr"/>
        <c:lblOffset val="100"/>
        <c:noMultiLvlLbl val="1"/>
      </c:catAx>
      <c:valAx>
        <c:axId val="37078233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76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Delivery Time by Number of Simultaneous Deliveries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Time (min)</c:v>
                </c:pt>
              </c:strCache>
            </c:strRef>
          </c:tx>
          <c:spPr>
            <a:ln w="38100" cap="flat">
              <a:solidFill>
                <a:srgbClr val="E23744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23744"/>
              </a:solidFill>
              <a:ln w="9525" cap="flat">
                <a:solidFill>
                  <a:srgbClr val="E2374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22.88</c:v>
                </c:pt>
                <c:pt idx="1">
                  <c:v>26.85</c:v>
                </c:pt>
                <c:pt idx="2">
                  <c:v>40.450000000000003</c:v>
                </c:pt>
                <c:pt idx="3">
                  <c:v>47.82</c:v>
                </c:pt>
              </c:numCache>
            </c:numRef>
          </c:val>
          <c:smooth val="0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70783120"/>
        <c:axId val="370777632"/>
      </c:lineChart>
      <c:catAx>
        <c:axId val="37078312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Multiple Deliveries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77632"/>
        <c:crosses val="autoZero"/>
        <c:auto val="1"/>
        <c:lblAlgn val="ctr"/>
        <c:lblOffset val="100"/>
        <c:noMultiLvlLbl val="1"/>
      </c:catAx>
      <c:valAx>
        <c:axId val="37077763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Minutes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370783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55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7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2296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ZOMATO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Operations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Tableau dashboard analyzing 45,584 deliveries to uncover operational risks and efficiency opportunities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45,584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26.29 min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65760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4.63 / 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9224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A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Shibla Nasreen  |  Tool: Tableau Public  |  Source: Kaggle</a:t>
            </a:r>
            <a:endParaRPr lang="en-US" sz="10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111" y="0"/>
            <a:ext cx="37448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Delivery Operations Analytics Dataset  •  Source: Kaggle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view of food delivery operations — covering delivery person details, order timestamps, weather conditions, traffic, and more. Used here to explore patterns, evaluate delivery performance, and surface insights to enhance customer satisfaction.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can be used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analysis — ratings, times, vehicle condition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using location and traffic data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insights from weather &amp; festival patterns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insights on order volume and multiple </a:t>
            </a:r>
            <a:r>
              <a:rPr lang="en-US" sz="115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2034540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6876288" y="1929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2436876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Delivery_person_ID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2839212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5" name="Text 13"/>
          <p:cNvSpPr/>
          <p:nvPr/>
        </p:nvSpPr>
        <p:spPr>
          <a:xfrm>
            <a:off x="6876288" y="27340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Delivery_person_Age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3241548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876288" y="3136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Delivery_person_Ratings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3643884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876288" y="3538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Restaurant_latitude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4046220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3941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Restaurant_longitude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4448556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Delivery_location_latitude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4850892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76288" y="4745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Delivery_location_longitude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5253228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5148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89720" y="2034540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29" name="Text 27"/>
          <p:cNvSpPr/>
          <p:nvPr/>
        </p:nvSpPr>
        <p:spPr>
          <a:xfrm>
            <a:off x="9390888" y="19293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Time_Ordered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89720" y="2436876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31" name="Text 29"/>
          <p:cNvSpPr/>
          <p:nvPr/>
        </p:nvSpPr>
        <p:spPr>
          <a:xfrm>
            <a:off x="9390888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Time_Order_picked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9720" y="2839212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33" name="Text 31"/>
          <p:cNvSpPr/>
          <p:nvPr/>
        </p:nvSpPr>
        <p:spPr>
          <a:xfrm>
            <a:off x="9390888" y="27340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Weather_conditions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89720" y="3241548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35" name="Text 33"/>
          <p:cNvSpPr/>
          <p:nvPr/>
        </p:nvSpPr>
        <p:spPr>
          <a:xfrm>
            <a:off x="9390888" y="3136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Road_traffic_density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89720" y="3643884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37" name="Text 35"/>
          <p:cNvSpPr/>
          <p:nvPr/>
        </p:nvSpPr>
        <p:spPr>
          <a:xfrm>
            <a:off x="9390888" y="3538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Vehicle_condition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89720" y="4046220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39" name="Text 37"/>
          <p:cNvSpPr/>
          <p:nvPr/>
        </p:nvSpPr>
        <p:spPr>
          <a:xfrm>
            <a:off x="9390888" y="3941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Type_of_order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89720" y="4448556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41" name="Text 39"/>
          <p:cNvSpPr/>
          <p:nvPr/>
        </p:nvSpPr>
        <p:spPr>
          <a:xfrm>
            <a:off x="9390888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Type_of_vehicle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89720" y="4850892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43" name="Text 41"/>
          <p:cNvSpPr/>
          <p:nvPr/>
        </p:nvSpPr>
        <p:spPr>
          <a:xfrm>
            <a:off x="9390888" y="4745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Multiple_deliveries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89720" y="5253228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45" name="Text 43"/>
          <p:cNvSpPr/>
          <p:nvPr/>
        </p:nvSpPr>
        <p:spPr>
          <a:xfrm>
            <a:off x="9390888" y="5148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189720" y="5655564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47" name="Text 45"/>
          <p:cNvSpPr/>
          <p:nvPr/>
        </p:nvSpPr>
        <p:spPr>
          <a:xfrm>
            <a:off x="9390888" y="55504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89720" y="6057900"/>
            <a:ext cx="73152" cy="73152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49" name="Text 47"/>
          <p:cNvSpPr/>
          <p:nvPr/>
        </p:nvSpPr>
        <p:spPr>
          <a:xfrm>
            <a:off x="9390888" y="59527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Time_taken (min)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675120" y="61264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45,584 rows  •  20 columns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Zomato's delivery network handles thousands of orders daily across Indian cities. This project analyzes operational and external factors affecting delivery performance to identify where the business should focus improvement efforts.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operational and external factors most affect delivery performance, and where should Zomato focus improvement efforts?”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78040" y="123444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135788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1527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traffic, festival impact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78040" y="246888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484" y="25923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0956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Resources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90956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type, condition, partner demographics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178040" y="370332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84" y="38267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09560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909560" y="3995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and delivery locations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178040" y="493776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484" y="506120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09560" y="4919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Patterns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909560" y="5230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scheduling, multiple deliveries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45,584 deliveries analyzed across Indian cities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19625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45,584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554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611" y="196253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26.29 min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75488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554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091" y="19625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4.63 / 5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595360" y="3017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14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131" y="424853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1,320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91440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8056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114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8611" y="424853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34.12%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75488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 Good Condition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32104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95360" y="4114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9091" y="424853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9.99 min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59536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Prep Time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Factors: Weather &amp; Traffic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outside Zomato's direct control still shape delivery speed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5778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55080" y="1463040"/>
          <a:ext cx="52120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17720"/>
            <a:ext cx="11018520" cy="1600200"/>
          </a:xfrm>
          <a:prstGeom prst="roundRect">
            <a:avLst>
              <a:gd name="adj" fmla="val 4571"/>
            </a:avLst>
          </a:prstGeom>
          <a:solidFill>
            <a:srgbClr val="F5F5F5"/>
          </a:solidFill>
          <a:ln/>
        </p:spPr>
      </p:sp>
      <p:sp>
        <p:nvSpPr>
          <p:cNvPr id="7" name="Shape 3"/>
          <p:cNvSpPr/>
          <p:nvPr/>
        </p:nvSpPr>
        <p:spPr>
          <a:xfrm>
            <a:off x="822960" y="48920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91" y="5025771"/>
            <a:ext cx="326898" cy="3268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00200" y="489204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deliveries take 45.5 min on average vs 25.98 min normally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75% increase. Even the fastest festival delivery is slower than the average normal-day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Resources: Vehicles &amp; Partners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condition matters more than vehicle type or partner age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5778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355080" y="1463040"/>
          <a:ext cx="52120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720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34.12%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2296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fleet is in Good/Excellent condition — poor-condition vehicles add nearly 6 minutes of delay.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17920" y="457200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10" name="Text 6"/>
          <p:cNvSpPr/>
          <p:nvPr/>
        </p:nvSpPr>
        <p:spPr>
          <a:xfrm>
            <a:off x="64922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– 4.6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49224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range across all delivery-partner age groups — age has minimal effect on service quality.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Delivery Network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and delivery locations mapped across Indian metro regions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2880360" y="2377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25831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Locations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886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across major Indian metros and surrounding urban regions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0" y="2377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5831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Locations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7960" y="3886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coverage across Urban, Semi-Urban and Metropolitan zones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maps available in the live Tableau Public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simultaneous deliveries is the single biggest driver of delay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492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463040"/>
            <a:ext cx="4343400" cy="3291840"/>
          </a:xfrm>
          <a:prstGeom prst="roundRect">
            <a:avLst>
              <a:gd name="adj" fmla="val 2222"/>
            </a:avLst>
          </a:prstGeom>
          <a:solidFill>
            <a:srgbClr val="B71C2B"/>
          </a:solidFill>
          <a:ln/>
        </p:spPr>
      </p:sp>
      <p:sp>
        <p:nvSpPr>
          <p:cNvPr id="6" name="Shape 3"/>
          <p:cNvSpPr/>
          <p:nvPr/>
        </p:nvSpPr>
        <p:spPr>
          <a:xfrm>
            <a:off x="7543800" y="1737360"/>
            <a:ext cx="594360" cy="594360"/>
          </a:xfrm>
          <a:prstGeom prst="ellipse">
            <a:avLst/>
          </a:prstGeom>
          <a:solidFill>
            <a:srgbClr val="E237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531" y="1871091"/>
            <a:ext cx="326898" cy="326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3800" y="2468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+109%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7543800" y="3200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delivery time when 3 orders are combined vs a single delivery (22.9 → 47.8 min)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5212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533552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53492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generate 2.6x more orders than weekends  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(33,049 vs 12,535) — with no meaningful difference in delivery speed.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3A3A3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157619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990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deliveries is the biggest risk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54480" y="18562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nearly doubles (22.9→47.8 min) when 3 orders are combined.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92240" y="12344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3A3A3A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463040"/>
            <a:ext cx="502920" cy="50292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997" y="157619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3990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 disrupt performance sharply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06640" y="18562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 min avg vs 25.98 min normally — a 75% slowdown.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3A3A3A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" y="33135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136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traffic add secondary delay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54480" y="35935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Fog/cloud adds ~7 min; jam traffic adds ~10 min vs best case.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92240" y="29718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3A3A3A"/>
          </a:solidFill>
          <a:ln/>
        </p:spPr>
      </p:sp>
      <p:sp>
        <p:nvSpPr>
          <p:cNvPr id="19" name="Shape 14"/>
          <p:cNvSpPr/>
          <p:nvPr/>
        </p:nvSpPr>
        <p:spPr>
          <a:xfrm>
            <a:off x="6720840" y="3200400"/>
            <a:ext cx="502920" cy="50292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997" y="331355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136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condition outweighs vehicle type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406640" y="35935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34% of the fleet is in good/excellent condition.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0080" y="47091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3A3A3A"/>
          </a:solidFill>
          <a:ln/>
        </p:spPr>
      </p:sp>
      <p:sp>
        <p:nvSpPr>
          <p:cNvPr id="24" name="Shape 18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837" y="5050917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8737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age has minimal effect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554480" y="533095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stay consistent (4.5–4.6) across all age groups.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492240" y="47091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3A3A3A"/>
          </a:solidFill>
          <a:ln/>
        </p:spPr>
      </p:sp>
      <p:sp>
        <p:nvSpPr>
          <p:cNvPr id="29" name="Shape 22"/>
          <p:cNvSpPr/>
          <p:nvPr/>
        </p:nvSpPr>
        <p:spPr>
          <a:xfrm>
            <a:off x="6720840" y="4937760"/>
            <a:ext cx="502920" cy="502920"/>
          </a:xfrm>
          <a:prstGeom prst="ellipse">
            <a:avLst/>
          </a:prstGeom>
          <a:solidFill>
            <a:srgbClr val="4A4A4A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3997" y="5050917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48737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drive order volume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7406640" y="533095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 more orders on weekdays, with no speed penalty.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based on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7335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simultaneous deliveries at 1 additional order per trip to control the largest source of delay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54203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festival operations protocol — extra drivers, pre-positioned vehicles, proactive delay alerts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41071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vehicle maintenance to raise the good/excellent fleet share above the current 34%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7939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weather-adjusted delivery estimates (+5–8 min) during foggy/cloudy conditions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14807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age-neutral hiring, since performance is consistent across delivery partner age groups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7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E2374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E2374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32120" y="1188720"/>
            <a:ext cx="1097280" cy="109728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260604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0" y="3291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8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420624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Shibla Nasreen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Doha, Qatar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 •  LinkedIn  •  GitHub</a:t>
            </a:r>
            <a:endParaRPr lang="en-US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276" y="1111469"/>
            <a:ext cx="1765738" cy="1174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745</Words>
  <Application>Microsoft Office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Delivery Operations Analysis</dc:title>
  <dc:subject>PptxGenJS Presentation</dc:subject>
  <dc:creator>Shibla Nasreen</dc:creator>
  <cp:lastModifiedBy>Microsoft account</cp:lastModifiedBy>
  <cp:revision>2</cp:revision>
  <dcterms:created xsi:type="dcterms:W3CDTF">2026-07-02T00:16:32Z</dcterms:created>
  <dcterms:modified xsi:type="dcterms:W3CDTF">2026-07-02T00:27:01Z</dcterms:modified>
</cp:coreProperties>
</file>